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8" r:id="rId3"/>
    <p:sldId id="259" r:id="rId4"/>
    <p:sldId id="261" r:id="rId5"/>
    <p:sldId id="289" r:id="rId6"/>
    <p:sldId id="282" r:id="rId7"/>
    <p:sldId id="290" r:id="rId8"/>
    <p:sldId id="270" r:id="rId9"/>
    <p:sldId id="283" r:id="rId10"/>
    <p:sldId id="284" r:id="rId11"/>
    <p:sldId id="285" r:id="rId12"/>
    <p:sldId id="286" r:id="rId13"/>
    <p:sldId id="294" r:id="rId14"/>
    <p:sldId id="293" r:id="rId15"/>
    <p:sldId id="291" r:id="rId16"/>
    <p:sldId id="292" r:id="rId17"/>
    <p:sldId id="281" r:id="rId18"/>
    <p:sldId id="26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9B0C6-7B31-417E-BD01-4F892F5D57BB}" v="1" dt="2026-08-25T06:22:57.70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EM JASWANTH" userId="514fdd3a7e1ac77b" providerId="LiveId" clId="{5509436F-ACC7-46C5-ABCE-ABE33742019A}"/>
    <pc:docChg chg="custSel delSld modSld">
      <pc:chgData name="CHITTEM JASWANTH" userId="514fdd3a7e1ac77b" providerId="LiveId" clId="{5509436F-ACC7-46C5-ABCE-ABE33742019A}" dt="2026-08-25T06:22:57.699" v="228"/>
      <pc:docMkLst>
        <pc:docMk/>
      </pc:docMkLst>
      <pc:sldChg chg="modSp mod">
        <pc:chgData name="CHITTEM JASWANTH" userId="514fdd3a7e1ac77b" providerId="LiveId" clId="{5509436F-ACC7-46C5-ABCE-ABE33742019A}" dt="2026-08-25T06:22:57.699" v="228"/>
        <pc:sldMkLst>
          <pc:docMk/>
          <pc:sldMk cId="0" sldId="256"/>
        </pc:sldMkLst>
        <pc:spChg chg="mod">
          <ac:chgData name="CHITTEM JASWANTH" userId="514fdd3a7e1ac77b" providerId="LiveId" clId="{5509436F-ACC7-46C5-ABCE-ABE33742019A}" dt="2026-08-13T08:15:03.869" v="227" actId="1076"/>
          <ac:spMkLst>
            <pc:docMk/>
            <pc:sldMk cId="0" sldId="256"/>
            <ac:spMk id="4" creationId="{B375BB38-04FB-3350-7861-2BD9FEA45F95}"/>
          </ac:spMkLst>
        </pc:spChg>
        <pc:spChg chg="mod">
          <ac:chgData name="CHITTEM JASWANTH" userId="514fdd3a7e1ac77b" providerId="LiveId" clId="{5509436F-ACC7-46C5-ABCE-ABE33742019A}" dt="2026-08-25T06:22:57.699" v="228"/>
          <ac:spMkLst>
            <pc:docMk/>
            <pc:sldMk cId="0" sldId="256"/>
            <ac:spMk id="93" creationId="{00000000-0000-0000-0000-000000000000}"/>
          </ac:spMkLst>
        </pc:spChg>
      </pc:sldChg>
      <pc:sldChg chg="modSp mod">
        <pc:chgData name="CHITTEM JASWANTH" userId="514fdd3a7e1ac77b" providerId="LiveId" clId="{5509436F-ACC7-46C5-ABCE-ABE33742019A}" dt="2026-08-13T08:14:03.855" v="207" actId="20577"/>
        <pc:sldMkLst>
          <pc:docMk/>
          <pc:sldMk cId="0" sldId="281"/>
        </pc:sldMkLst>
        <pc:spChg chg="mod">
          <ac:chgData name="CHITTEM JASWANTH" userId="514fdd3a7e1ac77b" providerId="LiveId" clId="{5509436F-ACC7-46C5-ABCE-ABE33742019A}" dt="2026-08-13T08:14:03.855" v="207" actId="20577"/>
          <ac:spMkLst>
            <pc:docMk/>
            <pc:sldMk cId="0" sldId="281"/>
            <ac:spMk id="5" creationId="{3723DF2E-5374-3527-B795-AAD469FE28A9}"/>
          </ac:spMkLst>
        </pc:spChg>
      </pc:sldChg>
      <pc:sldChg chg="modSp mod">
        <pc:chgData name="CHITTEM JASWANTH" userId="514fdd3a7e1ac77b" providerId="LiveId" clId="{5509436F-ACC7-46C5-ABCE-ABE33742019A}" dt="2026-08-13T08:14:31.047" v="219" actId="20577"/>
        <pc:sldMkLst>
          <pc:docMk/>
          <pc:sldMk cId="2200834522" sldId="289"/>
        </pc:sldMkLst>
        <pc:spChg chg="mod">
          <ac:chgData name="CHITTEM JASWANTH" userId="514fdd3a7e1ac77b" providerId="LiveId" clId="{5509436F-ACC7-46C5-ABCE-ABE33742019A}" dt="2026-08-13T08:11:53.814" v="197" actId="1036"/>
          <ac:spMkLst>
            <pc:docMk/>
            <pc:sldMk cId="2200834522" sldId="289"/>
            <ac:spMk id="110" creationId="{3BD00749-6167-82EA-A70B-54D4AAED9E2E}"/>
          </ac:spMkLst>
        </pc:spChg>
        <pc:graphicFrameChg chg="modGraphic">
          <ac:chgData name="CHITTEM JASWANTH" userId="514fdd3a7e1ac77b" providerId="LiveId" clId="{5509436F-ACC7-46C5-ABCE-ABE33742019A}" dt="2026-08-13T08:14:31.047" v="219" actId="20577"/>
          <ac:graphicFrameMkLst>
            <pc:docMk/>
            <pc:sldMk cId="2200834522" sldId="289"/>
            <ac:graphicFrameMk id="3" creationId="{50A0FB11-0D30-9D16-8F32-22C17A1BAE3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7A9D674-E072-616C-2E7F-4E38B70C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6D8BFE3-75D7-ABFE-C9DF-ED3BE6557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6C9C6A3-33C2-CC8F-B10D-901E9D4A0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00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20D8331-1D5A-C209-40F1-0B59AA24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E9AA1695-2A47-08F6-D50F-EC948C117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3CCADA6F-166D-9E83-2F5B-12CC8C7EF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37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B3F55EE-F2B0-8FAF-59A4-D7EC7C13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7A6D2F86-C1EF-6208-E393-2B0857E79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2F45599-6E90-B640-2EEE-FE4BEB000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71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8381D56-1A4B-19FE-30BE-5930C95B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982E67B4-6AAB-BE3F-62BE-19F3D8CB6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D64A729F-C081-3C9E-343D-42E5269FC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15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C7BDC19-E080-0466-0B74-55B19C90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81EDAE62-6164-1FD4-7ED8-F2991669B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A2CAC771-9FF7-4791-ED13-133C8FB47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01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A4ACE969-0AEB-BCC4-B3B0-218CA11F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39C5413D-F52A-8E48-9838-5D558C8FF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7BD8A6D3-0DF8-2128-50B9-1CFDD6017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74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69BF068B-53E8-556A-0BB9-109FF84A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93C0D0CE-033F-591E-2106-FE7CA9755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D2C57471-4ACD-1033-04C5-855E16D19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21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7FEAA950-5A89-1D95-30C5-8A3D7252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D4AE3DB5-3ED4-632D-61EF-00260A12B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846003DE-CF20-B1BE-96F2-1BC54C508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98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914CF55-1D6B-2BE3-B7E1-91171E62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84790D66-8DB8-5786-7248-0C4C7345C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800AFCF1-3B27-0762-4107-DAC998DBC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00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8645B69-CF0F-E946-4471-9B391E70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>
            <a:extLst>
              <a:ext uri="{FF2B5EF4-FFF2-40B4-BE49-F238E27FC236}">
                <a16:creationId xmlns:a16="http://schemas.microsoft.com/office/drawing/2014/main" id="{AB7F7D31-91BD-B5F4-B280-94946124C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>
            <a:extLst>
              <a:ext uri="{FF2B5EF4-FFF2-40B4-BE49-F238E27FC236}">
                <a16:creationId xmlns:a16="http://schemas.microsoft.com/office/drawing/2014/main" id="{26E4EEAD-754A-DA25-B902-C85D951DC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5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A8B2A39-B3CD-4B0C-A358-A851CB38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>
            <a:extLst>
              <a:ext uri="{FF2B5EF4-FFF2-40B4-BE49-F238E27FC236}">
                <a16:creationId xmlns:a16="http://schemas.microsoft.com/office/drawing/2014/main" id="{864E7BD9-AC2A-8CD5-02EC-9B23CE31D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>
            <a:extLst>
              <a:ext uri="{FF2B5EF4-FFF2-40B4-BE49-F238E27FC236}">
                <a16:creationId xmlns:a16="http://schemas.microsoft.com/office/drawing/2014/main" id="{11F641FD-4550-8683-162B-11D6C7A10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96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7326124-75B5-4947-98B8-BD48B6D2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>
            <a:extLst>
              <a:ext uri="{FF2B5EF4-FFF2-40B4-BE49-F238E27FC236}">
                <a16:creationId xmlns:a16="http://schemas.microsoft.com/office/drawing/2014/main" id="{9707B982-FFAB-A3F3-0F8E-C6278BCAE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>
            <a:extLst>
              <a:ext uri="{FF2B5EF4-FFF2-40B4-BE49-F238E27FC236}">
                <a16:creationId xmlns:a16="http://schemas.microsoft.com/office/drawing/2014/main" id="{CA5702A0-98B0-6323-8A0E-0A0973AB1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06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65713" y="2466864"/>
            <a:ext cx="10441859" cy="135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b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893061" y="4547959"/>
            <a:ext cx="5202939" cy="2452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dirty="0">
                <a:solidFill>
                  <a:schemeClr val="tx1"/>
                </a:solidFill>
              </a:rPr>
              <a:t>PRESENTED BY: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Jaswanth(192424334)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Phanith Chandu(192425238)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Mahammed Nayeem(192425294)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Ganga Niranjan (192424041)</a:t>
            </a:r>
          </a:p>
          <a:p>
            <a:pPr marL="0" lvl="0" indent="0" algn="r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Tushar Krishna Sai (192424406)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665713" y="2146494"/>
            <a:ext cx="11116623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  <a:buSzPts val="3200"/>
            </a:pP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Customer Review Analysis and Opinion Mining Platform Using Natural Language Processing for Business Intelligence</a:t>
            </a:r>
            <a:endParaRPr lang="en-US" sz="28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407D8FA9-34C3-BB79-E820-FB472E538F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930" y="454660"/>
            <a:ext cx="10288270" cy="1461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75BB38-04FB-3350-7861-2BD9FEA45F95}"/>
              </a:ext>
            </a:extLst>
          </p:cNvPr>
          <p:cNvSpPr txBox="1"/>
          <p:nvPr/>
        </p:nvSpPr>
        <p:spPr>
          <a:xfrm>
            <a:off x="3243465" y="3596582"/>
            <a:ext cx="6897231" cy="544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DSA0307  - NATURAL LANGUAGE PROCESSING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5BABBC0-80DD-1245-DA95-FB93148AFF42}"/>
              </a:ext>
            </a:extLst>
          </p:cNvPr>
          <p:cNvSpPr/>
          <p:nvPr/>
        </p:nvSpPr>
        <p:spPr>
          <a:xfrm flipH="1">
            <a:off x="6248250" y="4547959"/>
            <a:ext cx="45719" cy="208881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8A914-067F-4709-DC0B-0D2B4AB7ECDE}"/>
              </a:ext>
            </a:extLst>
          </p:cNvPr>
          <p:cNvSpPr txBox="1"/>
          <p:nvPr/>
        </p:nvSpPr>
        <p:spPr>
          <a:xfrm>
            <a:off x="6464507" y="4414094"/>
            <a:ext cx="6096000" cy="17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dirty="0"/>
              <a:t>GUIDED BY:</a:t>
            </a:r>
          </a:p>
          <a:p>
            <a:pPr>
              <a:lnSpc>
                <a:spcPct val="15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Dr. ANBAZHAGAN .K</a:t>
            </a:r>
          </a:p>
          <a:p>
            <a:pPr>
              <a:lnSpc>
                <a:spcPct val="15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PROFESSOR </a:t>
            </a:r>
          </a:p>
          <a:p>
            <a:pPr>
              <a:lnSpc>
                <a:spcPct val="15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600" b="1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CSE DEPARTMENT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546840" y="1730310"/>
            <a:ext cx="6149350" cy="408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018" y="274638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3430" y="275202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396257" y="274638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1FC17-1FEA-32EE-8C8F-CC10100B3A8F}"/>
              </a:ext>
            </a:extLst>
          </p:cNvPr>
          <p:cNvSpPr txBox="1"/>
          <p:nvPr/>
        </p:nvSpPr>
        <p:spPr>
          <a:xfrm>
            <a:off x="546301" y="2048158"/>
            <a:ext cx="9562227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Customer Sentiment and Intent Analysis Platform for Business Intelligence.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Natural Language Processing (NLP) to automatically analyze large volumes of customer feedback.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customer sentiment as positive, negative, or neutral.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customer intent, such as purchase, complaint, and inquiry.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used to detect toxic, offensive, abusive, and harmful comments.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1820944" y="342900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493120" y="1791983"/>
            <a:ext cx="9201485" cy="388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receive customer feedback from multiple sources daily.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opinions is important for business growth.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enables automatic analysis of customer text data.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and intent analysis provide valuable customer insights.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data-driven business decisions. </a:t>
            </a:r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121" y="25709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06416" y="2429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3</a:t>
            </a:fld>
            <a:endParaRPr dirty="0"/>
          </a:p>
        </p:txBody>
      </p:sp>
      <p:pic>
        <p:nvPicPr>
          <p:cNvPr id="2" name="Picture 1" descr="Toxic Comments Stock Illustrations – 29 Toxic Comments Stock Illustrations,  Vectors &amp; Clipart - Dreamstime">
            <a:extLst>
              <a:ext uri="{FF2B5EF4-FFF2-40B4-BE49-F238E27FC236}">
                <a16:creationId xmlns:a16="http://schemas.microsoft.com/office/drawing/2014/main" id="{02FA0F76-BD13-C416-1C1A-5CC7D511A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232" y="2914949"/>
            <a:ext cx="1998648" cy="165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475338" y="1830388"/>
            <a:ext cx="894724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is generated in large volumes.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time-consuming and inefficient.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customer concerns may go unnoticed.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struggle to identify customer intentions accurately.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insights can affect customer satisfaction and revenue. </a:t>
            </a:r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338" y="29156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15909" y="291568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155432-CE1E-E004-D3F2-DF57AC6DB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407" y="2360782"/>
            <a:ext cx="2844800" cy="18965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81E8289-22B6-D24D-D3D9-6FFDD0F5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>
            <a:extLst>
              <a:ext uri="{FF2B5EF4-FFF2-40B4-BE49-F238E27FC236}">
                <a16:creationId xmlns:a16="http://schemas.microsoft.com/office/drawing/2014/main" id="{8CAEDC4F-624E-99D3-AA5C-26194FF2CC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956" y="359284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>
            <a:extLst>
              <a:ext uri="{FF2B5EF4-FFF2-40B4-BE49-F238E27FC236}">
                <a16:creationId xmlns:a16="http://schemas.microsoft.com/office/drawing/2014/main" id="{3A49EA3F-1540-540F-FBE7-1261DF2C24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9008" y="257117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3BD00749-6167-82EA-A70B-54D4AAED9E2E}"/>
              </a:ext>
            </a:extLst>
          </p:cNvPr>
          <p:cNvSpPr txBox="1"/>
          <p:nvPr/>
        </p:nvSpPr>
        <p:spPr>
          <a:xfrm>
            <a:off x="1432584" y="405004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lang="en-US"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A0FB11-0D30-9D16-8F32-22C17A1BA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39213"/>
              </p:ext>
            </p:extLst>
          </p:nvPr>
        </p:nvGraphicFramePr>
        <p:xfrm>
          <a:off x="580104" y="2018733"/>
          <a:ext cx="11276940" cy="44799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57851">
                  <a:extLst>
                    <a:ext uri="{9D8B030D-6E8A-4147-A177-3AD203B41FA5}">
                      <a16:colId xmlns:a16="http://schemas.microsoft.com/office/drawing/2014/main" val="4080873244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913487066"/>
                    </a:ext>
                  </a:extLst>
                </a:gridCol>
                <a:gridCol w="3175819">
                  <a:extLst>
                    <a:ext uri="{9D8B030D-6E8A-4147-A177-3AD203B41FA5}">
                      <a16:colId xmlns:a16="http://schemas.microsoft.com/office/drawing/2014/main" val="2949279969"/>
                    </a:ext>
                  </a:extLst>
                </a:gridCol>
                <a:gridCol w="3013257">
                  <a:extLst>
                    <a:ext uri="{9D8B030D-6E8A-4147-A177-3AD203B41FA5}">
                      <a16:colId xmlns:a16="http://schemas.microsoft.com/office/drawing/2014/main" val="2654680053"/>
                    </a:ext>
                  </a:extLst>
                </a:gridCol>
              </a:tblGrid>
              <a:tr h="5289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737081"/>
                  </a:ext>
                </a:extLst>
              </a:tr>
              <a:tr h="11479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Farshidi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User Intent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Conversational Recommender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various user intent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techniques for understanding customer needs and improving recommendation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in handling dynamic user intentions and context changes.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7206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 et al.,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Systematic Review of Aspect-Based Sentiment Analysis: Domains, Methods, and Trends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Aspect-Based Sentiment Analysis (ABSA) methods for extracting fine-grained customer opinions.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annotated datasets and struggles with multilingual data.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237209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Aziz et al.,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Unifying Aspect-Based Sentiment Analysis BERT and Multi-Layered Graph Convolutional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sentiment classification accuracy using BERT and Graph Convolutional Networks.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 and longer training time.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524739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Alahmadi et al.,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Generalizing Sentiment Analysis: A Review of Progress, Challenges, and Emerging Directions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modern sentiment analysis approaches and emerging AI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in sarcasm detection, domain adaptation, and explainability.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91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83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DB6546F-1E25-1312-CB85-F8E4DC05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>
            <a:extLst>
              <a:ext uri="{FF2B5EF4-FFF2-40B4-BE49-F238E27FC236}">
                <a16:creationId xmlns:a16="http://schemas.microsoft.com/office/drawing/2014/main" id="{CD397C16-20F7-2AFD-7D1F-96E4C866D8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956" y="359284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>
            <a:extLst>
              <a:ext uri="{FF2B5EF4-FFF2-40B4-BE49-F238E27FC236}">
                <a16:creationId xmlns:a16="http://schemas.microsoft.com/office/drawing/2014/main" id="{C71D8F01-95A6-C18F-3BC2-F8F8AD01EC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9008" y="257117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8E1F55D9-4089-7161-B2F2-D58360E6FE39}"/>
              </a:ext>
            </a:extLst>
          </p:cNvPr>
          <p:cNvSpPr txBox="1"/>
          <p:nvPr/>
        </p:nvSpPr>
        <p:spPr>
          <a:xfrm>
            <a:off x="1432584" y="359284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&amp; PROPOSED SYSTEM</a:t>
            </a:r>
            <a:endParaRPr lang="en-US"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218DB3-87AC-9B5D-FA23-47E757132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649104"/>
              </p:ext>
            </p:extLst>
          </p:nvPr>
        </p:nvGraphicFramePr>
        <p:xfrm>
          <a:off x="1059261" y="2186694"/>
          <a:ext cx="10038765" cy="389559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076080">
                  <a:extLst>
                    <a:ext uri="{9D8B030D-6E8A-4147-A177-3AD203B41FA5}">
                      <a16:colId xmlns:a16="http://schemas.microsoft.com/office/drawing/2014/main" val="1436703876"/>
                    </a:ext>
                  </a:extLst>
                </a:gridCol>
                <a:gridCol w="4962685">
                  <a:extLst>
                    <a:ext uri="{9D8B030D-6E8A-4147-A177-3AD203B41FA5}">
                      <a16:colId xmlns:a16="http://schemas.microsoft.com/office/drawing/2014/main" val="3444470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64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 is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manually.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 is analyzed automatically using NLP.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483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customer data takes more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faster analysis and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901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handle large amounts of feedback.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Efficiently handles large-scale customer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270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sentiment is identified manually.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detects sentiment and intent.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83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chances of human errors.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accuracy and consistency.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92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business decision-making.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insights and reports for better decisions.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11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70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F0DF396-4D63-7F05-AB10-F47EBED5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>
            <a:extLst>
              <a:ext uri="{FF2B5EF4-FFF2-40B4-BE49-F238E27FC236}">
                <a16:creationId xmlns:a16="http://schemas.microsoft.com/office/drawing/2014/main" id="{FF3A04AE-9801-7BC4-9D24-A1AEE00E56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956" y="359284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>
            <a:extLst>
              <a:ext uri="{FF2B5EF4-FFF2-40B4-BE49-F238E27FC236}">
                <a16:creationId xmlns:a16="http://schemas.microsoft.com/office/drawing/2014/main" id="{DF38ACD6-9C30-EF24-0F48-A20ADEE6AD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9008" y="257117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19CE30C5-210F-7C8F-9943-9667ABD420A2}"/>
              </a:ext>
            </a:extLst>
          </p:cNvPr>
          <p:cNvSpPr txBox="1"/>
          <p:nvPr/>
        </p:nvSpPr>
        <p:spPr>
          <a:xfrm>
            <a:off x="1432584" y="359284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lang="en-US"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C649C-E1D7-3486-1A2D-4EE5A445DA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25"/>
          <a:stretch>
            <a:fillRect/>
          </a:stretch>
        </p:blipFill>
        <p:spPr>
          <a:xfrm>
            <a:off x="1577412" y="2225620"/>
            <a:ext cx="9037173" cy="4329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5A6818-B5F9-6087-F1BA-BF9C0DBA95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000" r="34000" b="91535"/>
          <a:stretch>
            <a:fillRect/>
          </a:stretch>
        </p:blipFill>
        <p:spPr>
          <a:xfrm>
            <a:off x="2987039" y="1502284"/>
            <a:ext cx="6217920" cy="56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8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B20B88A4-FA15-C6B0-F2ED-971601BA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424D3E0B-C359-FFF0-9730-0D09548A3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6506" y="474522"/>
            <a:ext cx="849355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DASHBOARD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6C46AF6A-339E-3E16-250E-E235698356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842" y="474522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A83FDEDF-3936-8039-754F-A8C25D31DF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0057" y="374580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BED72912-8CDC-2D44-BC3C-F5BF95F165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45300-B087-4988-53CA-BDBFACF30009}"/>
              </a:ext>
            </a:extLst>
          </p:cNvPr>
          <p:cNvSpPr txBox="1"/>
          <p:nvPr/>
        </p:nvSpPr>
        <p:spPr>
          <a:xfrm>
            <a:off x="445842" y="2218829"/>
            <a:ext cx="7354528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secure login.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for users and administrators.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monitoring customer feedback.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summary of sentiment and intent results.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profiles and settings.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DF5646-8552-2CD8-090B-FE5A726D4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903" y="2393608"/>
            <a:ext cx="4336949" cy="274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0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3153AB18-35D2-2624-E987-C8762CDB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209990EE-6E1D-60EC-CCB2-D57F42C4C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687" y="510407"/>
            <a:ext cx="102235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b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NLP PREPROCESSING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DBF8A27A-FD4C-CDF0-E442-AFB985E635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274638"/>
            <a:ext cx="1038829" cy="124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143C8384-50F5-EE59-7CFD-035AF65082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8503" y="274638"/>
            <a:ext cx="1455174" cy="124936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02DA50E3-EAC2-D722-05A9-8188024D5F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F3B5B-9D85-28FB-5810-29370E2326A5}"/>
              </a:ext>
            </a:extLst>
          </p:cNvPr>
          <p:cNvSpPr txBox="1"/>
          <p:nvPr/>
        </p:nvSpPr>
        <p:spPr>
          <a:xfrm>
            <a:off x="478503" y="2038911"/>
            <a:ext cx="8259097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from reviews, surveys, emails, and social media.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noise, special characters, and irrelevant text.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tokenization of customer feedback.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stop-word removal and normalization.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stemming and lemmatization.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13847-F6B5-D299-92E9-C985E2E54E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23" t="8766" r="4448" b="28012"/>
          <a:stretch>
            <a:fillRect/>
          </a:stretch>
        </p:blipFill>
        <p:spPr>
          <a:xfrm>
            <a:off x="7606001" y="3054479"/>
            <a:ext cx="4215651" cy="24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2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44A9BC2A-5E40-06B3-D59C-73C52567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3BC964FD-18FD-6E41-CB32-01A5C4DB63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9224" y="458716"/>
            <a:ext cx="849355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TOXIC COMMENT DETECTION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516684E9-049E-DE2A-96DB-196D7E9DE2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010" y="35877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4916015A-C169-6739-D0CE-774593B713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0057" y="35877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D5613A4B-C0E3-0D04-3EDE-36563A3030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10</a:t>
            </a:fld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7580B-DBEC-CC45-EAC8-FD138071C84E}"/>
              </a:ext>
            </a:extLst>
          </p:cNvPr>
          <p:cNvSpPr txBox="1"/>
          <p:nvPr/>
        </p:nvSpPr>
        <p:spPr>
          <a:xfrm>
            <a:off x="318024" y="1992489"/>
            <a:ext cx="8776816" cy="4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BERT deep learning model to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 text context.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toxic, offensive, abusive, and harmful comments automatically.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comments into Toxic and Non-Toxic categories.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accuracy by considering the meaning of words in a sentence.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content moderation by identifying inappropriate user comments in real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D8D6A-294A-A311-393D-F89D18E33B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946" t="64373" r="5000"/>
          <a:stretch>
            <a:fillRect/>
          </a:stretch>
        </p:blipFill>
        <p:spPr>
          <a:xfrm>
            <a:off x="9105606" y="2227243"/>
            <a:ext cx="2768370" cy="1853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8C8AF0-1683-51FC-0CFD-AB954B7FA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935" t="67162" r="50000"/>
          <a:stretch>
            <a:fillRect/>
          </a:stretch>
        </p:blipFill>
        <p:spPr>
          <a:xfrm>
            <a:off x="9105606" y="4251569"/>
            <a:ext cx="2844800" cy="162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0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C05FCB7F-0750-AA43-BF26-12D17CCB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B6095CFF-C99E-F111-8B12-A149C38B5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9224" y="420452"/>
            <a:ext cx="849355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</a:t>
            </a:r>
            <a:b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BACKEND INTEGRATION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918D498D-6A64-EF4F-BD5C-1D0031D72E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010" y="348943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AFA4BB92-C434-E6FC-C7F7-449EA18059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570" y="348943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7FB9F7EF-17DC-2FE6-12F0-D8D429B9E1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2F0BA-DED8-5B28-265D-1472458723A1}"/>
              </a:ext>
            </a:extLst>
          </p:cNvPr>
          <p:cNvSpPr txBox="1"/>
          <p:nvPr/>
        </p:nvSpPr>
        <p:spPr>
          <a:xfrm>
            <a:off x="357352" y="2139451"/>
            <a:ext cx="9150441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customer intents such as Purchase, Complaint, and Inquiry.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customer data in a database.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sentiment and intent records efficiently.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historical customer interactions.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backend services and data management.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8A06C-118A-B146-6AFC-38C52D423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700" y="3067313"/>
            <a:ext cx="4898186" cy="261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3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72A36E48-8D20-EB36-FD16-6F6D48FE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74DD4A51-27E4-BB38-CF57-AFF4118FE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9224" y="441836"/>
            <a:ext cx="849355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 </a:t>
            </a:r>
            <a:b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ANALYTICS &amp; MODERATION SYSTEM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2ED3D728-83CF-148B-7BBB-02343D637E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675" y="27463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29CB5D73-7070-F27E-270E-16682358E1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5573" y="24728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8E41C98C-18C8-D5A4-B55E-73F19F03C1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9795B-84B8-147A-6A8B-4110A674DB66}"/>
              </a:ext>
            </a:extLst>
          </p:cNvPr>
          <p:cNvSpPr txBox="1"/>
          <p:nvPr/>
        </p:nvSpPr>
        <p:spPr>
          <a:xfrm>
            <a:off x="553997" y="2227032"/>
            <a:ext cx="8619499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sentiment and intent distribution reports.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trends through charts and dashboards.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customer satisfaction metrics.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business opportunities and customer issues.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 making.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5D5EF-5898-D76A-58F9-8C1C64BC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349" y="2608456"/>
            <a:ext cx="4552334" cy="278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29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893CDBD0-422F-E493-F9C4-36901988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81C83A11-47BB-22C3-B1C0-55E944180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9224" y="441836"/>
            <a:ext cx="849355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Google Shape;178;p21">
            <a:extLst>
              <a:ext uri="{FF2B5EF4-FFF2-40B4-BE49-F238E27FC236}">
                <a16:creationId xmlns:a16="http://schemas.microsoft.com/office/drawing/2014/main" id="{3290015B-FBC2-A2A3-CE62-EA46CC8A14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675" y="27463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>
            <a:extLst>
              <a:ext uri="{FF2B5EF4-FFF2-40B4-BE49-F238E27FC236}">
                <a16:creationId xmlns:a16="http://schemas.microsoft.com/office/drawing/2014/main" id="{BBAF86D5-1C73-99F3-E2AA-19E8390987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5573" y="24728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0970618B-99AF-2230-26A1-7E11069968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18AA6-E463-95DD-84BA-F22F8E157101}"/>
              </a:ext>
            </a:extLst>
          </p:cNvPr>
          <p:cNvSpPr txBox="1"/>
          <p:nvPr/>
        </p:nvSpPr>
        <p:spPr>
          <a:xfrm>
            <a:off x="760474" y="1873071"/>
            <a:ext cx="861949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Toxic comment detection model.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&amp;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Text preprocessing and NLP tasks.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Backend development.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management.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training and deployment.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handling and analysis.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Development tools.</a:t>
            </a:r>
          </a:p>
        </p:txBody>
      </p:sp>
      <p:pic>
        <p:nvPicPr>
          <p:cNvPr id="2" name="Picture 2" descr="10 Tech Tools Your Business Should Start Using Right Now - SmallBizDaily">
            <a:extLst>
              <a:ext uri="{FF2B5EF4-FFF2-40B4-BE49-F238E27FC236}">
                <a16:creationId xmlns:a16="http://schemas.microsoft.com/office/drawing/2014/main" id="{885BF283-E0E0-096D-E488-BDCB230EE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361" y="2631207"/>
            <a:ext cx="2694039" cy="201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104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30FF2B16-562C-00CC-FD38-13F6A267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>
            <a:extLst>
              <a:ext uri="{FF2B5EF4-FFF2-40B4-BE49-F238E27FC236}">
                <a16:creationId xmlns:a16="http://schemas.microsoft.com/office/drawing/2014/main" id="{3E2FAB61-30AE-84DE-0FD4-CD848DA341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851" y="274637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>
            <a:extLst>
              <a:ext uri="{FF2B5EF4-FFF2-40B4-BE49-F238E27FC236}">
                <a16:creationId xmlns:a16="http://schemas.microsoft.com/office/drawing/2014/main" id="{7D6DFE0B-346A-9C06-E49D-58AE0A61D2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6113" y="274636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D6052D71-A688-DCD5-2BA4-0F192756D5F7}"/>
              </a:ext>
            </a:extLst>
          </p:cNvPr>
          <p:cNvSpPr txBox="1"/>
          <p:nvPr/>
        </p:nvSpPr>
        <p:spPr>
          <a:xfrm>
            <a:off x="1577413" y="376802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AND DISCUSSION</a:t>
            </a:r>
            <a:endParaRPr lang="en-US"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CFC7C-1F92-0098-A439-B14655AA4AE0}"/>
              </a:ext>
            </a:extLst>
          </p:cNvPr>
          <p:cNvSpPr txBox="1"/>
          <p:nvPr/>
        </p:nvSpPr>
        <p:spPr>
          <a:xfrm>
            <a:off x="639097" y="1766823"/>
            <a:ext cx="11155052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detects toxic and non-toxic comments using the BERT model.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preprocessing improves the quality of text analysis.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comments are accurately identified and flagged for moderation.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Non-toxic comments are approved and allowed for display.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reports provide insights into user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content trends.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maintain a safer and healthier online environment.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C4F69-FD83-E8A2-16BD-50AE937A6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13" y="3096652"/>
            <a:ext cx="1518036" cy="15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92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C09035A-1797-3BE1-84AD-150F0222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>
            <a:extLst>
              <a:ext uri="{FF2B5EF4-FFF2-40B4-BE49-F238E27FC236}">
                <a16:creationId xmlns:a16="http://schemas.microsoft.com/office/drawing/2014/main" id="{1DD160F8-5BF7-E9E7-012B-8E367CDE1B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851" y="274637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>
            <a:extLst>
              <a:ext uri="{FF2B5EF4-FFF2-40B4-BE49-F238E27FC236}">
                <a16:creationId xmlns:a16="http://schemas.microsoft.com/office/drawing/2014/main" id="{12CD5B1E-0F1D-8118-F818-EEAB819968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6113" y="274636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8B2FCEC2-A22B-0FB7-0401-110F34A2F125}"/>
              </a:ext>
            </a:extLst>
          </p:cNvPr>
          <p:cNvSpPr txBox="1"/>
          <p:nvPr/>
        </p:nvSpPr>
        <p:spPr>
          <a:xfrm>
            <a:off x="1385373" y="376802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2AA46-F3F8-7D93-1A95-176AA91A6131}"/>
              </a:ext>
            </a:extLst>
          </p:cNvPr>
          <p:cNvSpPr txBox="1"/>
          <p:nvPr/>
        </p:nvSpPr>
        <p:spPr>
          <a:xfrm>
            <a:off x="711260" y="1854491"/>
            <a:ext cx="10323871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multilingual toxic comment detection.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monitoring and alert systems.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sarcasm, hate speech, and cyberbullying more accurately.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 using advanced transformer models.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easier access and moderation.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sentiment analysis and emotion detection features.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79B22-237F-1753-0656-7FB5432059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82" t="9660" r="22084"/>
          <a:stretch>
            <a:fillRect/>
          </a:stretch>
        </p:blipFill>
        <p:spPr>
          <a:xfrm>
            <a:off x="9607238" y="2738511"/>
            <a:ext cx="2083317" cy="17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2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EBDB1974-FF27-1060-7FC0-493A3EFD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>
            <a:extLst>
              <a:ext uri="{FF2B5EF4-FFF2-40B4-BE49-F238E27FC236}">
                <a16:creationId xmlns:a16="http://schemas.microsoft.com/office/drawing/2014/main" id="{00BE5DB5-DB51-9AD9-A8F2-899F1EB077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851" y="274636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>
            <a:extLst>
              <a:ext uri="{FF2B5EF4-FFF2-40B4-BE49-F238E27FC236}">
                <a16:creationId xmlns:a16="http://schemas.microsoft.com/office/drawing/2014/main" id="{915C9F7A-EAD4-1552-C341-6A39AFB526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6113" y="274636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C76AADD9-8DD1-20C4-3B27-2085DC5E5938}"/>
              </a:ext>
            </a:extLst>
          </p:cNvPr>
          <p:cNvSpPr txBox="1"/>
          <p:nvPr/>
        </p:nvSpPr>
        <p:spPr>
          <a:xfrm>
            <a:off x="1385373" y="376802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D8805-ABA9-1930-9406-A16780EB5170}"/>
              </a:ext>
            </a:extLst>
          </p:cNvPr>
          <p:cNvSpPr txBox="1"/>
          <p:nvPr/>
        </p:nvSpPr>
        <p:spPr>
          <a:xfrm>
            <a:off x="668595" y="1979774"/>
            <a:ext cx="11877367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identifies harmful and offensive comments.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BERT-based classification improves detection accuracy by understanding context.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enhance text preprocessing and analysis.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automated content moderation and reduces manual effort.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contributes to creating a secure and user-friendly online platform.</a:t>
            </a:r>
          </a:p>
        </p:txBody>
      </p:sp>
    </p:spTree>
    <p:extLst>
      <p:ext uri="{BB962C8B-B14F-4D97-AF65-F5344CB8AC3E}">
        <p14:creationId xmlns:p14="http://schemas.microsoft.com/office/powerpoint/2010/main" val="2381910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844" y="274637"/>
            <a:ext cx="1133954" cy="134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11661" y="274637"/>
            <a:ext cx="1518036" cy="134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/>
        </p:nvSpPr>
        <p:spPr>
          <a:xfrm>
            <a:off x="1374488" y="274637"/>
            <a:ext cx="90371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3DF2E-5374-3527-B795-AAD469FE28A9}"/>
              </a:ext>
            </a:extLst>
          </p:cNvPr>
          <p:cNvSpPr txBox="1"/>
          <p:nvPr/>
        </p:nvSpPr>
        <p:spPr>
          <a:xfrm>
            <a:off x="371522" y="1747331"/>
            <a:ext cx="11558175" cy="4941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Farshidi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Jannach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Jugovac, M. (2026).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user intent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conversational recommender systems: A systematic review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User-Adapted Interaction, 33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1047–1085. 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Hua, Y. C., Chen, P., &amp; Zhang, H. (2025).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review of aspect-based sentiment analysis: Domains, methods, and trends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Review, 57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1–40. 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Jim, J. R., Kumar, S., &amp; Sharma, P. (2025).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advancements and challenges of NLP-based sentiment analysis: A state-of-the-art review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Journal, 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100089. 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Alahmadi, K., Alharthi, R., &amp; Alghamdi, A. (2024).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Generalizing sentiment analysis: A review of progress, challenges, and emerging directions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 Analysis and Mining, 15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1–25. 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Baberwal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Sharma, A., &amp; Gupta, R. (2024).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of recent advances in multimodal sentiment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 Frontiers, 27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1–22.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3365" y="1844532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4893</TotalTime>
  <Words>1153</Words>
  <Application>Microsoft Office PowerPoint</Application>
  <PresentationFormat>Widescreen</PresentationFormat>
  <Paragraphs>142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  </vt:lpstr>
      <vt:lpstr>PowerPoint Presentation</vt:lpstr>
      <vt:lpstr>INTRODUCTION</vt:lpstr>
      <vt:lpstr>PROBLEM STATEMENT</vt:lpstr>
      <vt:lpstr>PowerPoint Presentation</vt:lpstr>
      <vt:lpstr>PowerPoint Presentation</vt:lpstr>
      <vt:lpstr>PowerPoint Presentation</vt:lpstr>
      <vt:lpstr>MODULE 1  USER AUTHENTICATION &amp; DASHBOARD</vt:lpstr>
      <vt:lpstr>MODULE 2  DATA COLLECTION &amp; NLP PREPROCESSING</vt:lpstr>
      <vt:lpstr>MODULE 3  BERT TOXIC COMMENT DETECTION</vt:lpstr>
      <vt:lpstr>MODULE 4  DATABASE &amp; BACKEND INTEGRATION</vt:lpstr>
      <vt:lpstr>MODULE 5   ANALYTICS &amp; MODERATION SYSTEM</vt:lpstr>
      <vt:lpstr>TOOLS AND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srinivasan</dc:creator>
  <cp:lastModifiedBy>CHITTEM JASWANTH</cp:lastModifiedBy>
  <cp:revision>72</cp:revision>
  <dcterms:modified xsi:type="dcterms:W3CDTF">2026-08-25T06:23:00Z</dcterms:modified>
</cp:coreProperties>
</file>